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8" r:id="rId3"/>
    <p:sldId id="276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14"/>
    <p:sldId id="277" r:id="rId15"/>
    <p:sldId id="268" r:id="rId16"/>
    <p:sldId id="270" r:id="rId17"/>
    <p:sldId id="267" r:id="rId18"/>
    <p:sldId id="269" r:id="rId19"/>
    <p:sldId id="271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CD8A-04E7-4E4F-3E68-26C9A577B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4E3A8-96DF-C86B-F0CC-99245F6BC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4CEA6-2640-D563-0542-456D1F4A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E4F01-FA64-79FC-4C12-A20E73F9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F529B-2768-1923-A8C8-2833704D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99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6511-4835-28BB-8FB1-1DD6BD62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E51DD-C9BD-9B3D-97A0-A73722B33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06DC5-6281-96BC-16C8-9BEEEAD6C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3607C-82E9-F6A2-D426-372ABE71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1B49-02B3-A834-D601-266742D7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60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49FC-8B41-3C0C-D01C-7A9FA31F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C38DE-591F-6907-E4C4-58A7CDA4E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B360B-9E25-332A-C7E2-677B6E42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F4F6C-5CF5-29C7-313F-EAAFF99D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8D0B3-18BF-D0BE-32F0-896B2636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32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68F1-DC7C-CE77-C184-995AD8FF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3FD5-F3E7-0273-54D1-1FDB27C93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7CC2D-A791-4E3E-6D91-265B06E65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1F421-8435-A637-B198-2D094294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3A640-12F6-3740-16F2-1B06E3A9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1EB24-ABDD-C787-FBC5-9B8F0EDC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2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E4DE-91D9-5517-62E5-30462C85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A2D6A-A6CD-6BF6-7749-BE784EA14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7968F-9661-6917-8767-7E1B8DA7E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27C62-0956-962D-8942-E8CFD3F8B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EB474-3DFE-B312-531E-483559529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37560-F324-08C9-9B28-0521E534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5AF06-72BA-A248-08DA-8C6A58F1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9763A2-8B83-224D-5DCF-AAF24D7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80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D6FD-FCC6-BF4C-8053-A9D96C6B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CFD8D-E2CD-C985-4127-F090A37B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D0B87-C0C7-D3E4-B5BC-7407416A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AE6C1-AC65-15A8-57C1-332A8550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77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DB7E6-ECE6-C927-61E8-F9A1320F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5FF11-6D08-A33B-F6C4-DF5DFD6D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0736E-025E-F21F-30EE-E68AFF7F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7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009C-79B8-3901-F173-FACF38366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9137-42D1-A99D-771D-F2CF3C6FC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97CDD-A42A-27E6-F717-620283D67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D7D8A-4288-5326-E05C-9B711C1C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4C066-CD7F-6665-180A-0FE9B2F2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5E3EF-2167-D527-B077-A885DEEE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66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8102-324E-6552-AE3B-C661CC53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03D94-DFDA-C44E-FAD3-54ECE37FF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67DAB-C2FC-B47B-99EC-AC8292671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439C5-F92B-70B8-313D-BD3064D0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BFF1-0783-6EE9-A3E6-DE536902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518B3-40CE-0D63-6B82-DD5D085E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84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A0F5-D7F6-1932-668B-1100BF4D7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01C26-426D-EFE8-DFD4-2E2592327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A3704-B40C-8953-2F78-457E1E51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708F-3730-C19C-4C5D-5513006A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15C36-CF85-5D5F-E8C6-8993E307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61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C96D0-B120-58AB-35D3-ABBCE5144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19104-578D-05CB-A5EA-338CA6538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D742-953E-057C-1C3A-49C16718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DD1B1-A0EB-1137-418B-3FFA65F2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B810-D3CC-1196-1777-18B39628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02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55CA69-AD9E-5AFB-1473-BF26D84A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7FBE3-909F-B854-8B0F-4D20046E3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CF882-B15B-0171-5BBD-BEEE8D5DF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D28CB-B14E-474E-A44D-BB4E1366BDC5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6265D-84A0-9C90-5FE5-D0EB2C83D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DB8A6-160E-451D-9BEC-4757F0573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74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forms.office.com/r/JJVXnt7keU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9766-5739-A011-944C-A3B2D1E2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7966-739B-19CD-EBE3-3E7182D0B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" y="1122362"/>
            <a:ext cx="11240631" cy="5189948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– Phase II</a:t>
            </a:r>
            <a:b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12-02-26</a:t>
            </a:r>
            <a:b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Early Detection of Diabetic Retinopathy</a:t>
            </a:r>
            <a:b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Batch-146</a:t>
            </a:r>
            <a:b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Virendra Kumar Shrivastava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9B8B568-C7BD-2F8A-2AFC-09DDFA2500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227" y="65151"/>
            <a:ext cx="5129530" cy="9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7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BBA44-55D1-C20D-1ACD-CBEEC84C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293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 / Existing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A90A4-64A2-BE44-FC18-4B6F8DFB0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 are widely used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diabetic retinopathy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retinal fundus images.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commonly applied for feature extraction and DR classification.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models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accuracy and efficiency.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studies incorporate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important retinal features. Most existing models lack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limiting clinical trust and adoption.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00D45D63-5C47-6056-64BF-EE8ED67B5D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0" y="0"/>
            <a:ext cx="4800030" cy="8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4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F3253-E664-13ED-71B1-AEB70ADB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B70E-DBD9-4011-96CB-237E380B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293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Gap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6B73-1F68-0B96-A275-3F47859AD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Brief description of existing approaches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approaches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learn retinal features like microaneurysms and hemorrhages.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CBAM (attention mechanism)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in some works to focus on clinically relevant regions.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models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high classification performance with fewer parameters.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Grad-CAM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to generate heatmaps for explaining model predictions. Existing approaches still face challenges in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early-stage detection and real-world validation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Limitations of Existing Work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these advancements, many existing approaches still struggle with early-stage DR detection, dataset dependency, and limited real-world clinical validation.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0C9B5516-0222-620A-68DB-E3EBE251E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0" y="0"/>
            <a:ext cx="4800030" cy="8877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60F988F-4940-888E-E508-C4CBABF0F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CBAM (attention mechanism)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in some works to focus on clinically relevant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07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5898-C0DF-2DB8-52D6-BD883DA3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81E1-187A-C866-137D-DFBC53F6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0AAE-4E82-AC1A-A38A-8560E9EF7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automated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for early detection of diabetic retinopathy using retinal fundus images.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effective feature extraction from retinal images.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CBAM (Convolutional Block Attention Module)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integrated to focus on clinically important retinal regions.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employed for accurate and computationally efficient DR stage classification.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provide visual explanations, improving model transparency and clinical trust.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8232C17-6317-CBD7-EE64-0A4D6AFD98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0" y="0"/>
            <a:ext cx="4800030" cy="8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7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4A9C-9589-8B3A-7C12-943798D7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91B81-D51E-9B40-FDF1-5D749B671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CNN-based models, our approach integrates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focus on critical retinal regions such as microaneurysms and hemorrhages.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higher accuracy with fewer parameters, making the model more computationally efficient than conventional architectures.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 often act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models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whereas our system 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visually explain predictions and improve clinical trust.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is designed to perform well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early-stage diabetic retinopathy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a limitation in many existing systems.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offers a better balance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efficiency, and interpretability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existing methods.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A5E33E2-175A-53A6-3D5A-0AC4B3BC8E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532" y="72420"/>
            <a:ext cx="4123468" cy="76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6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03D6-F3AE-A61D-A5E1-B901D36E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of the Proposed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271F-AD2E-8BBA-1AC4-00983DE2E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952BA3A-39F6-F303-3FFB-8558448C4A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182" y="0"/>
            <a:ext cx="3667818" cy="67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3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8D47-B806-AEA0-058B-D199FE53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in the proposed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80A88-3E7C-E069-22EA-AC84355BB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retinal fundus images from publicly available datasets.</a:t>
            </a:r>
          </a:p>
          <a:p>
            <a:pPr marL="514350" indent="-514350">
              <a:buFont typeface="+mj-lt"/>
              <a:buAutoNum type="alphaL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&amp; Augmentation Module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resizing, normalization, noise reduction, and data augmentation to improve data quality.</a:t>
            </a:r>
          </a:p>
          <a:p>
            <a:pPr marL="514350" indent="-514350">
              <a:buFont typeface="+mj-lt"/>
              <a:buAutoNum type="alphaL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Module (CNN)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important retinal features such as microaneurysms and hemorrhages.</a:t>
            </a:r>
          </a:p>
          <a:p>
            <a:pPr marL="514350" indent="-514350">
              <a:buFont typeface="+mj-lt"/>
              <a:buAutoNum type="alphaL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Enhancement Module (CBAM)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the model on clinically relevant regions in retinal images.</a:t>
            </a:r>
          </a:p>
          <a:p>
            <a:pPr marL="514350" indent="-514350">
              <a:buFont typeface="+mj-lt"/>
              <a:buAutoNum type="alphaL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&amp; Explainability Module (EfficientNet-B0 + Grad-CAM)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DR stages and generates heatmaps to visually explain predictions.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7619006-CD62-3193-0B3A-2896953A45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247" y="65151"/>
            <a:ext cx="4175510" cy="77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1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2B2E-2085-6C48-728C-1884EC64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Modules- completed till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6DFFD-36C2-052D-5372-C8BA0CE22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GB" dirty="0"/>
              <a:t>Progress status (Phase II focus)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1026F9E-2D6C-1688-5EC1-2C3291AAE3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337" y="65151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0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96A6-43FC-27EF-C8C2-E33A4E0E4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of Proposed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3587-1A03-C95D-B03D-387E98828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GB" dirty="0"/>
              <a:t>Output screenshots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35861BA-CADE-3C21-272F-D3AD1376A9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337" y="65151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1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2522-4564-3B33-2238-CEEA3E0C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77C3E-0E4E-D704-7754-6F4FD832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vs Existing Work</a:t>
            </a: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Primarily uses CNN or transfer learning models without strong attention mechanisms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with CBAM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focus on critical retinal regions</a:t>
            </a: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complex architectures with high computational cost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Employs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 with fewer parameters</a:t>
            </a: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Functions as a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model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limited interpretability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visual explanations for predictions</a:t>
            </a: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Struggles with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early-stage DR detection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early lesion detection through attention and explainability</a:t>
            </a: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clinical trust and usability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transparent, efficient, and clinically reliable</a:t>
            </a:r>
            <a:endParaRPr lang="en-GB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/ comparative outputs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8291E67-8177-62CB-DB66-9F515C8B96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685" y="65151"/>
            <a:ext cx="3330072" cy="61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42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2CEC-6566-95FA-5772-86EDEC2B3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Results/ Qualitative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C1FFC-F0E5-6287-E7B3-737F7041F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table (accuracy, latency, efficiency, etc.)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275533A-7022-7206-6DC6-B1F9A2560F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979" y="65151"/>
            <a:ext cx="3651778" cy="67538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424A23-80C0-F938-F594-F5503FB12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470743"/>
              </p:ext>
            </p:extLst>
          </p:nvPr>
        </p:nvGraphicFramePr>
        <p:xfrm>
          <a:off x="1363579" y="2630905"/>
          <a:ext cx="9593184" cy="3475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296">
                  <a:extLst>
                    <a:ext uri="{9D8B030D-6E8A-4147-A177-3AD203B41FA5}">
                      <a16:colId xmlns:a16="http://schemas.microsoft.com/office/drawing/2014/main" val="1439629959"/>
                    </a:ext>
                  </a:extLst>
                </a:gridCol>
                <a:gridCol w="2398296">
                  <a:extLst>
                    <a:ext uri="{9D8B030D-6E8A-4147-A177-3AD203B41FA5}">
                      <a16:colId xmlns:a16="http://schemas.microsoft.com/office/drawing/2014/main" val="3775782204"/>
                    </a:ext>
                  </a:extLst>
                </a:gridCol>
                <a:gridCol w="2398296">
                  <a:extLst>
                    <a:ext uri="{9D8B030D-6E8A-4147-A177-3AD203B41FA5}">
                      <a16:colId xmlns:a16="http://schemas.microsoft.com/office/drawing/2014/main" val="1792615907"/>
                    </a:ext>
                  </a:extLst>
                </a:gridCol>
                <a:gridCol w="2398296">
                  <a:extLst>
                    <a:ext uri="{9D8B030D-6E8A-4147-A177-3AD203B41FA5}">
                      <a16:colId xmlns:a16="http://schemas.microsoft.com/office/drawing/2014/main" val="2271352139"/>
                    </a:ext>
                  </a:extLst>
                </a:gridCol>
              </a:tblGrid>
              <a:tr h="405063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CNN+CBAM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EfficientB0+CBAMA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419744"/>
                  </a:ext>
                </a:extLst>
              </a:tr>
              <a:tr h="405063">
                <a:tc>
                  <a:txBody>
                    <a:bodyPr/>
                    <a:lstStyle/>
                    <a:p>
                      <a:r>
                        <a:rPr lang="en-IN" dirty="0"/>
                        <a:t>Accuracy(%)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97.12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777133"/>
                  </a:ext>
                </a:extLst>
              </a:tr>
              <a:tr h="405063">
                <a:tc>
                  <a:txBody>
                    <a:bodyPr/>
                    <a:lstStyle/>
                    <a:p>
                      <a:r>
                        <a:rPr lang="en-IN" dirty="0"/>
                        <a:t>Precision(%)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03016"/>
                  </a:ext>
                </a:extLst>
              </a:tr>
              <a:tr h="405063">
                <a:tc>
                  <a:txBody>
                    <a:bodyPr/>
                    <a:lstStyle/>
                    <a:p>
                      <a:r>
                        <a:rPr lang="en-IN" dirty="0"/>
                        <a:t>Recall(%)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249917"/>
                  </a:ext>
                </a:extLst>
              </a:tr>
              <a:tr h="405063">
                <a:tc>
                  <a:txBody>
                    <a:bodyPr/>
                    <a:lstStyle/>
                    <a:p>
                      <a:r>
                        <a:rPr lang="en-IN" dirty="0"/>
                        <a:t>F1-Score(%)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33145"/>
                  </a:ext>
                </a:extLst>
              </a:tr>
              <a:tr h="405063">
                <a:tc>
                  <a:txBody>
                    <a:bodyPr/>
                    <a:lstStyle/>
                    <a:p>
                      <a:r>
                        <a:rPr lang="en-IN" dirty="0"/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574348"/>
                  </a:ext>
                </a:extLst>
              </a:tr>
              <a:tr h="405063">
                <a:tc>
                  <a:txBody>
                    <a:bodyPr/>
                    <a:lstStyle/>
                    <a:p>
                      <a:r>
                        <a:rPr lang="en-IN" dirty="0"/>
                        <a:t>Computational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862884"/>
                  </a:ext>
                </a:extLst>
              </a:tr>
              <a:tr h="405063">
                <a:tc>
                  <a:txBody>
                    <a:bodyPr/>
                    <a:lstStyle/>
                    <a:p>
                      <a:r>
                        <a:rPr lang="en-IN" dirty="0"/>
                        <a:t>Model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3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70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754D-8415-1C29-105C-57EF8578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Results-Graph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24C6-78A5-E735-9143-6F7049B46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GB" dirty="0"/>
              <a:t>Performance graphs, charts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5F4CA32-C1E5-77C2-16BA-B675E8FBB8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59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748A-03D0-BE0E-B246-5586A25F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7254-9E34-3CC1-D846-200671EDE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diabetic retinopathy detection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CNN, CBAM, and EfficientNet-B0.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classification 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improved accuracy and F1-score compared to baseline CNN models.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visual explanations, enhancing model interpretability and clinical trust.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augmentation, model training, and evaluation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standard performance metrics.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that the model focuses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clinically relevant retinal regions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microaneurysms and hemorrhages.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0A605BCA-1BDC-5AEF-25F5-74A0D0E0FB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40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5A8A2-744D-0CC6-7B29-9EBC45EF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715C-3FDB-ACAA-CCAE-1085A516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F2634-B10B-8076-0133-B778F44BC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optimization and hyperparameter tuning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further improve accuracy and robustness.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evaluation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additional test samples to validate generalization performance.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visualizations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more qualitative analysis and interpretation.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documentation, results analysis, and comparison tables/graphs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submission.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report, presentation, and paper submission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final review.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FE77418F-6CD0-74D2-9F90-79F5F8123B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E5CF-ACEF-A987-C071-B71C062D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002060"/>
                </a:solidFill>
              </a:rPr>
              <a:t>Github</a:t>
            </a:r>
            <a:r>
              <a:rPr lang="en-GB" dirty="0">
                <a:solidFill>
                  <a:srgbClr val="002060"/>
                </a:solidFill>
              </a:rPr>
              <a:t> Repository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28A85-4F5D-AB8D-4570-48F86A89E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GB" dirty="0"/>
              <a:t>Code repository URL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4F03576-D534-F99E-D210-C41AA757CD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86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AA22-A7E8-21E9-FA81-0A439F0A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of the Paper (Outcome-publication)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FF7C4-8276-1DB1-8CF7-4ECD5F04B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GB" dirty="0"/>
              <a:t>Conference / Journal / Patent status</a:t>
            </a:r>
          </a:p>
          <a:p>
            <a:pPr marL="514350" indent="-514350">
              <a:buFont typeface="+mj-lt"/>
              <a:buAutoNum type="alphaLcParenR"/>
            </a:pPr>
            <a:r>
              <a:rPr lang="en-GB" dirty="0"/>
              <a:t>Proof screenshots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7CDF19B-7E44-F30C-5DEC-A2571020E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77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4239-AD85-86F7-CF7B-2343CCCE4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of Capstone - phase1 -Outcome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D89D1-F39F-E3AD-2ABE-4AE14E8B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Publication / Patent proof</a:t>
            </a:r>
          </a:p>
          <a:p>
            <a:r>
              <a:rPr lang="en-GB" dirty="0"/>
              <a:t>Submission link reference</a:t>
            </a:r>
          </a:p>
          <a:p>
            <a:pPr marL="0" indent="0">
              <a:buNone/>
            </a:pPr>
            <a:r>
              <a:rPr lang="en-GB" dirty="0">
                <a:hlinkClick r:id="rId2"/>
              </a:rPr>
              <a:t>https://forms.office.com/r/JJVXnt7keU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1F76436C-8570-CEE0-7220-658AA1E8E9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982" y="74777"/>
            <a:ext cx="3664017" cy="67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83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F3A3-F0DC-8130-306E-26C38AF1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Approval 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0834-EAFB-6BFB-1AC8-AC68EE44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Screenshot of guide’s PPT approval mail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D281B7C9-1F7B-0989-3B8A-D768E747AF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75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D7AD-66CA-2C03-BF60-356430AC5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A701-B0C0-7815-3D55-96348D0D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Rajarajeshwari, G. and Selvi, G.C., 2024. Application of artificial intelligence for classification, segmentation, early detection, early diagnosis, and grading of diabetic retinopathy from fundus retinal images: a comprehensive review. IEEE Access.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Bilal, A., Zhu, L., Deng, A., Lu, H. and Wu, N., 2022. AI-based automatic detection and classification of diabetic retinopathy using U-Net and deep learning. Symmetry, 14(7), p.1427.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Yang, Y., Wang, H., Ji, C. and Niu, Y., 2023. Artificial intelligence-driven diagnostic systems for early detection of diabetic retinopathy: Integrating retinal imaging and clinical data.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pp.83-90.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Navaneethan, S., Raj, N.D. and Raman, R.G., 2023, December. A Novel AI based Early Diabetic Retinopathy Detection using Retinal Images. In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2nd International Conference on Automation, Computing and Renewable Systems (ICACRS)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543-547). IEEE.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Rajalakshmi, R., Subashini, R., Anjana, R.M. and Mohan, V., 2018. Automated diabetic retinopathy detection in smartphone-based fundus photography using artificial intelligence.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(6), pp.1138-1144.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Inayat, S., Haq, H.M.A.U., Shafqat, S. and Hamid, K., 2025. AI-Based Early Detection of Diabetic Retinopathy to Prevent Severe Visual Impairment.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Computing &amp; Biomedical Informatics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Shah, S.A., Sokol, J.T., Wai, K.M., Rahimy, E., Myung, D.,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Mruthyunjaya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and Parikh, R., 2024. Use of artificial intelligence–based detection of diabetic retinopathy in the US.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JAMA ophthalmology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pp.1171-1173.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Youldash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Rahman, A., Alsayed, M.,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Sebiany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Alzayat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Aljishi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Alshammari, G. and Alqahtani, M., 2024. Early Detection and Classification of Diabetic Retinopathy: A Deep Learning Approach.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Susilo, Y.K.B., Ariffin, A.E., Rahman, S.A., Mahadi, M. and Yuliana, D., 2025. Artificial Intelligence for Early Detection and Prognosis Prediction of Diabetic Retinopathy. 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pp.2025-03.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X., Wang, H., She, C., Feng, J., Liu, X., Hu, X., Chen, L. and Tao, Y., 2022. Artificial intelligence promotes the diagnosis and screening of diabetic retinopathy.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endocrinology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p.946915.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26DBC5D7-A325-68E9-6CCF-11E654A089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88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2FEF9-4344-C964-6014-5FCFED34D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768" y="2996057"/>
            <a:ext cx="7857744" cy="24263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5600" dirty="0">
                <a:solidFill>
                  <a:srgbClr val="002060"/>
                </a:solidFill>
              </a:rPr>
              <a:t>Thank You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9E7DE7E4-12B8-42AA-DF11-1CD1F79861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29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1419</Words>
  <Application>Microsoft Office PowerPoint</Application>
  <PresentationFormat>Widescreen</PresentationFormat>
  <Paragraphs>115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Office Theme</vt:lpstr>
      <vt:lpstr>          Capstone Project – Phase II 12-02-26 AI Based Early Detection of Diabetic Retinopathy Batch-146 Virendra Kumar Shrivastava </vt:lpstr>
      <vt:lpstr>Problem Background / Existing Work</vt:lpstr>
      <vt:lpstr>Problem Gap &amp; Motivation</vt:lpstr>
      <vt:lpstr>Proposed work</vt:lpstr>
      <vt:lpstr>Novelty of the Proposed work</vt:lpstr>
      <vt:lpstr>Architecture Diagram of the Proposed Work</vt:lpstr>
      <vt:lpstr>Modules in the proposed work</vt:lpstr>
      <vt:lpstr>Modules- completed till now</vt:lpstr>
      <vt:lpstr>Results of Proposed work</vt:lpstr>
      <vt:lpstr>Comparison results</vt:lpstr>
      <vt:lpstr>Quantitative Results/ Qualitative Results </vt:lpstr>
      <vt:lpstr>Results-Graph </vt:lpstr>
      <vt:lpstr>Conclusion</vt:lpstr>
      <vt:lpstr>Future Work</vt:lpstr>
      <vt:lpstr>Github Repository link</vt:lpstr>
      <vt:lpstr>Status of the Paper (Outcome-publication) </vt:lpstr>
      <vt:lpstr>Status of Capstone - phase1 -Outcome</vt:lpstr>
      <vt:lpstr>Guide Approval Mail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Madheswari</dc:creator>
  <cp:lastModifiedBy>Thanu Srinivas</cp:lastModifiedBy>
  <cp:revision>13</cp:revision>
  <dcterms:created xsi:type="dcterms:W3CDTF">2026-02-09T10:01:01Z</dcterms:created>
  <dcterms:modified xsi:type="dcterms:W3CDTF">2026-02-10T05:02:58Z</dcterms:modified>
</cp:coreProperties>
</file>